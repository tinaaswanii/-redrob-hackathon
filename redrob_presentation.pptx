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40080"/>
            <a:ext cx="64008" cy="640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143000"/>
            <a:ext cx="64008" cy="64008"/>
          </a:xfrm>
          <a:prstGeom prst="ellipse">
            <a:avLst/>
          </a:prstGeom>
          <a:solidFill>
            <a:srgbClr val="2DD4B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645920"/>
            <a:ext cx="64008" cy="64008"/>
          </a:xfrm>
          <a:prstGeom prst="ellipse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148840"/>
            <a:ext cx="64008" cy="64008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640080"/>
            <a:ext cx="64008" cy="64008"/>
          </a:xfrm>
          <a:prstGeom prst="ellipse">
            <a:avLst/>
          </a:prstGeom>
          <a:solidFill>
            <a:srgbClr val="2DD4BF">
              <a:alpha val="9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1143000"/>
            <a:ext cx="64008" cy="64008"/>
          </a:xfrm>
          <a:prstGeom prst="ellipse">
            <a:avLst/>
          </a:prstGeom>
          <a:solidFill>
            <a:srgbClr val="2DD4BF">
              <a:alpha val="8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1645920"/>
            <a:ext cx="64008" cy="64008"/>
          </a:xfrm>
          <a:prstGeom prst="ellipse">
            <a:avLst/>
          </a:prstGeom>
          <a:solidFill>
            <a:srgbClr val="2DD4BF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2148840"/>
            <a:ext cx="64008" cy="64008"/>
          </a:xfrm>
          <a:prstGeom prst="ellipse">
            <a:avLst/>
          </a:prstGeom>
          <a:solidFill>
            <a:srgbClr val="2DD4BF">
              <a:alpha val="7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640080"/>
            <a:ext cx="64008" cy="64008"/>
          </a:xfrm>
          <a:prstGeom prst="ellipse">
            <a:avLst/>
          </a:prstGeom>
          <a:solidFill>
            <a:srgbClr val="2DD4BF">
              <a:alpha val="8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1143000"/>
            <a:ext cx="64008" cy="64008"/>
          </a:xfrm>
          <a:prstGeom prst="ellipse">
            <a:avLst/>
          </a:prstGeom>
          <a:solidFill>
            <a:srgbClr val="2DD4BF">
              <a:alpha val="7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645920"/>
            <a:ext cx="64008" cy="64008"/>
          </a:xfrm>
          <a:prstGeom prst="ellipse">
            <a:avLst/>
          </a:prstGeom>
          <a:solidFill>
            <a:srgbClr val="2DD4BF">
              <a:alpha val="7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2148840"/>
            <a:ext cx="64008" cy="64008"/>
          </a:xfrm>
          <a:prstGeom prst="ellipse">
            <a:avLst/>
          </a:prstGeom>
          <a:solidFill>
            <a:srgbClr val="2DD4BF">
              <a:alpha val="6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640080"/>
            <a:ext cx="64008" cy="64008"/>
          </a:xfrm>
          <a:prstGeom prst="ellipse">
            <a:avLst/>
          </a:prstGeom>
          <a:solidFill>
            <a:srgbClr val="2DD4BF">
              <a:alpha val="7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1143000"/>
            <a:ext cx="64008" cy="64008"/>
          </a:xfrm>
          <a:prstGeom prst="ellipse">
            <a:avLst/>
          </a:prstGeom>
          <a:solidFill>
            <a:srgbClr val="2DD4BF">
              <a:alpha val="7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1645920"/>
            <a:ext cx="64008" cy="64008"/>
          </a:xfrm>
          <a:prstGeom prst="ellipse">
            <a:avLst/>
          </a:prstGeom>
          <a:solidFill>
            <a:srgbClr val="2DD4BF">
              <a:alpha val="6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2148840"/>
            <a:ext cx="64008" cy="64008"/>
          </a:xfrm>
          <a:prstGeom prst="ellipse">
            <a:avLst/>
          </a:prstGeom>
          <a:solidFill>
            <a:srgbClr val="2DD4BF">
              <a:alpha val="6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640080"/>
            <a:ext cx="64008" cy="64008"/>
          </a:xfrm>
          <a:prstGeom prst="ellipse">
            <a:avLst/>
          </a:prstGeom>
          <a:solidFill>
            <a:srgbClr val="2DD4BF">
              <a:alpha val="6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0" y="1143000"/>
            <a:ext cx="64008" cy="64008"/>
          </a:xfrm>
          <a:prstGeom prst="ellipse">
            <a:avLst/>
          </a:prstGeom>
          <a:solidFill>
            <a:srgbClr val="2DD4BF">
              <a:alpha val="6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0" y="1645920"/>
            <a:ext cx="64008" cy="64008"/>
          </a:xfrm>
          <a:prstGeom prst="ellipse">
            <a:avLst/>
          </a:prstGeom>
          <a:solidFill>
            <a:srgbClr val="2DD4BF">
              <a:alpha val="5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148840"/>
            <a:ext cx="64008" cy="64008"/>
          </a:xfrm>
          <a:prstGeom prst="ellipse">
            <a:avLst/>
          </a:prstGeom>
          <a:solidFill>
            <a:srgbClr val="2DD4BF">
              <a:alpha val="5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640080"/>
            <a:ext cx="64008" cy="64008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143000"/>
            <a:ext cx="64008" cy="64008"/>
          </a:xfrm>
          <a:prstGeom prst="ellipse">
            <a:avLst/>
          </a:prstGeom>
          <a:solidFill>
            <a:srgbClr val="2DD4BF">
              <a:alpha val="5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1645920"/>
            <a:ext cx="64008" cy="64008"/>
          </a:xfrm>
          <a:prstGeom prst="ellipse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2148840"/>
            <a:ext cx="64008" cy="64008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1783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AI HACKATHON  ·  TRACK 1: DATA &amp; AI CHALLENGE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22402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Candidate Discovery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822960" y="2926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Ranking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82296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candidates. One job description. A scoring system built on a discovery we weren't expecting to make.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212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22960" y="5760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ranked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66160" y="5212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566160" y="5760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templates found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5212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~45s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309360" y="5760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runtime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52560" y="5212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052560" y="5760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network calls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needle-in-haystack problem,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matching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rank 100,000 candidates against one Senior AI Engineer role. Before writing any scoring logic, we looked at what's actually in the pool.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Analyst, HR Manager,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Accountant, Mechanical Engineer…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2788920"/>
            <a:ext cx="6217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2788920"/>
            <a:ext cx="6217920" cy="384048"/>
          </a:xfrm>
          <a:prstGeom prst="rect">
            <a:avLst/>
          </a:prstGeom>
          <a:solidFill>
            <a:srgbClr val="C7D2E3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~5,800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0215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Engineer, Cloud Engineer,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685032"/>
            <a:ext cx="6217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3685032"/>
            <a:ext cx="3216166" cy="384048"/>
          </a:xfrm>
          <a:prstGeom prst="rect">
            <a:avLst/>
          </a:prstGeom>
          <a:solidFill>
            <a:srgbClr val="94A8C9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6393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39826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Engineer, Data Scientist,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Engineer…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4581144"/>
            <a:ext cx="6217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4581144"/>
            <a:ext cx="160808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5354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294376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Engineer, Recommendation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/ Search Engineer…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5477256"/>
            <a:ext cx="6217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5477256"/>
            <a:ext cx="10972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43153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0.015% of the pool is a plausible match. Real recruiting judgment, applied at scale, matters far more than clever NLP.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“Find candidates whose skills section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contains the most AI keywords.”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JD's own warning. Two columns of evidence show why a naive keyword matcher fails here: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1C2D4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3A2A1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31491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list says “expert”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 says otherwise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Business Analyst @ Wipro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history: month-end close, financial reporting, demand-gen funnels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“Expert” skills listed: SAP, Node.js, gRPC, Flask, Hadoop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257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matcher sees 5 “expert” technical skills. A recruiter sees zero relevant experience.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269748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1C2D4F"/>
          </a:solidFill>
          <a:ln/>
        </p:spPr>
      </p:sp>
      <p:sp>
        <p:nvSpPr>
          <p:cNvPr id="13" name="Shape 10"/>
          <p:cNvSpPr/>
          <p:nvPr/>
        </p:nvSpPr>
        <p:spPr>
          <a:xfrm>
            <a:off x="6355080" y="3017520"/>
            <a:ext cx="548640" cy="548640"/>
          </a:xfrm>
          <a:prstGeom prst="ellipse">
            <a:avLst/>
          </a:prstGeom>
          <a:solidFill>
            <a:srgbClr val="0F3D3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754" y="314919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buzzwords on the resume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086600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 says real depth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55080" y="38404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“Built systems that understand what users are looking for”…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“RAG”, no “Pinecone” — but full retrieval + ranking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evaluation-framework ownership at flagship scale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355080" y="5257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JD's own “Tier 5” case. A keyword matcher would rank this candidate near zero.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Career-history text isn't free text.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drawn from 44 fixed templates.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hand-checking our scores against real candidate records, we noticed identical paragraphs reappearing across different people, different companies. We verified it at full scale.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8346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300,171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career_history entries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full dataset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33672" y="26060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28346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16552" y="35661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description strings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across all of them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27264" y="26060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27264" y="28346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25,515×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010144" y="35661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single most-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template appears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changes the problem entirely: instead of fuzzy keyword matching against unpredictable free text, we can read all 44 templates once and score by exact lookup.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0789920" cy="18288"/>
          </a:xfrm>
          <a:prstGeom prst="rect">
            <a:avLst/>
          </a:prstGeom>
          <a:solidFill>
            <a:srgbClr val="D8E0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5321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every one of the 44 hand-classified templates matches at least one real description — zero unrecognized descriptions across the full 100,000-candidate file.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THE 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all 44 reveals a clear tier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108813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2052828"/>
            <a:ext cx="457200" cy="365760"/>
          </a:xfrm>
          <a:prstGeom prst="ellipse">
            <a:avLst/>
          </a:prstGeom>
          <a:solidFill>
            <a:srgbClr val="D9DEE8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0528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~25K each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7955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functions: sales, support, marketing, accounting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08813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51176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2683764"/>
            <a:ext cx="457200" cy="365760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6837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551176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each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551176"/>
            <a:ext cx="7955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Tech-adjacent, no ML: DevOps, mobile, frontend, QA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739896"/>
            <a:ext cx="108813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82112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45920" y="3314700"/>
            <a:ext cx="457200" cy="365760"/>
          </a:xfrm>
          <a:prstGeom prst="ellipse">
            <a:avLst/>
          </a:prstGeom>
          <a:solidFill>
            <a:srgbClr val="8FA3C4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33147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182112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~1.8K each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3182112"/>
            <a:ext cx="7955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/ analytics — explicitly not modeling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370832"/>
            <a:ext cx="108813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13048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3945636"/>
            <a:ext cx="45720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0" y="39456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68880" y="3813048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330–390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0" y="3813048"/>
            <a:ext cx="7955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zone: real ML keywords, JD's own disqualifiers in the text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001768"/>
            <a:ext cx="108813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443984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645920" y="4576572"/>
            <a:ext cx="45720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5" name="Text 33"/>
          <p:cNvSpPr/>
          <p:nvPr/>
        </p:nvSpPr>
        <p:spPr>
          <a:xfrm>
            <a:off x="1645920" y="45765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68880" y="4443984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57–78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4443984"/>
            <a:ext cx="7955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production ranking / recsys / MLOps work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5632704"/>
            <a:ext cx="108813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5074920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34–39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645920" y="5207508"/>
            <a:ext cx="45720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1645920" y="52075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468880" y="5074920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8–64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74720" y="5074920"/>
            <a:ext cx="7955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LoRA/QLoRA fine-tuning, hybrid retrieval, NDCG/MRR eval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6263640"/>
            <a:ext cx="108813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5705856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645920" y="5838444"/>
            <a:ext cx="45720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7" name="Text 45"/>
          <p:cNvSpPr/>
          <p:nvPr/>
        </p:nvSpPr>
        <p:spPr>
          <a:xfrm>
            <a:off x="1645920" y="58384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468880" y="5705856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74720" y="5705856"/>
            <a:ext cx="7955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— the JD's “Tier 5” case, same depth, no buzzwords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weighted scorer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purpose, not by default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trained black-box model. Every point is traceable to a named, explainable component — because Stage 5 means defending every ranking decision live.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1C2D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0F3D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29477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90672" y="2743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34472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template lookup: 70% current role + 30% best-ever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9392" y="2606040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1C2D4F"/>
          </a:solidFill>
          <a:ln/>
        </p:spPr>
      </p:sp>
      <p:sp>
        <p:nvSpPr>
          <p:cNvPr id="11" name="Shape 8"/>
          <p:cNvSpPr/>
          <p:nvPr/>
        </p:nvSpPr>
        <p:spPr>
          <a:xfrm>
            <a:off x="4507992" y="2834640"/>
            <a:ext cx="502920" cy="502920"/>
          </a:xfrm>
          <a:prstGeom prst="ellipse">
            <a:avLst/>
          </a:prstGeom>
          <a:solidFill>
            <a:srgbClr val="0F3D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49" y="294779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9984" y="2743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507992" y="34472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list — capped low on purpose, supportive only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18704" y="2606040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1C2D4F"/>
          </a:solidFill>
          <a:ln/>
        </p:spPr>
      </p:sp>
      <p:sp>
        <p:nvSpPr>
          <p:cNvPr id="16" name="Shape 12"/>
          <p:cNvSpPr/>
          <p:nvPr/>
        </p:nvSpPr>
        <p:spPr>
          <a:xfrm>
            <a:off x="8147304" y="2834640"/>
            <a:ext cx="502920" cy="502920"/>
          </a:xfrm>
          <a:prstGeom prst="ellipse">
            <a:avLst/>
          </a:prstGeom>
          <a:solidFill>
            <a:srgbClr val="0F3D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461" y="294779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69296" y="2743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8147304" y="34472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Years-of-experience fit, smooth falloff outside 5–9yr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1C2D4F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4434840"/>
            <a:ext cx="502920" cy="502920"/>
          </a:xfrm>
          <a:prstGeom prst="ellipse">
            <a:avLst/>
          </a:prstGeom>
          <a:solidFill>
            <a:srgbClr val="0F3D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454799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090672" y="43434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868680" y="50474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Pune/Noida &gt; other India hubs &gt; outside India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79392" y="4206240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1C2D4F"/>
          </a:solidFill>
          <a:ln/>
        </p:spPr>
      </p:sp>
      <p:sp>
        <p:nvSpPr>
          <p:cNvPr id="26" name="Shape 20"/>
          <p:cNvSpPr/>
          <p:nvPr/>
        </p:nvSpPr>
        <p:spPr>
          <a:xfrm>
            <a:off x="4507992" y="4434840"/>
            <a:ext cx="502920" cy="502920"/>
          </a:xfrm>
          <a:prstGeom prst="ellipse">
            <a:avLst/>
          </a:prstGeom>
          <a:solidFill>
            <a:srgbClr val="0F3D3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1149" y="4547997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29984" y="43434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9" name="Text 22"/>
          <p:cNvSpPr/>
          <p:nvPr/>
        </p:nvSpPr>
        <p:spPr>
          <a:xfrm>
            <a:off x="4507992" y="50474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availability: active, responsive, reachable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918704" y="4206240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1C2D4F"/>
          </a:solidFill>
          <a:ln/>
        </p:spPr>
      </p:sp>
      <p:sp>
        <p:nvSpPr>
          <p:cNvPr id="31" name="Shape 24"/>
          <p:cNvSpPr/>
          <p:nvPr/>
        </p:nvSpPr>
        <p:spPr>
          <a:xfrm>
            <a:off x="8147304" y="4434840"/>
            <a:ext cx="502920" cy="502920"/>
          </a:xfrm>
          <a:prstGeom prst="ellipse">
            <a:avLst/>
          </a:prstGeom>
          <a:solidFill>
            <a:srgbClr val="3A2A1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0461" y="4547997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369296" y="43434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600" dirty="0"/>
          </a:p>
        </p:txBody>
      </p:sp>
      <p:sp>
        <p:nvSpPr>
          <p:cNvPr id="34" name="Text 26"/>
          <p:cNvSpPr/>
          <p:nvPr/>
        </p:nvSpPr>
        <p:spPr>
          <a:xfrm>
            <a:off x="8147304" y="50474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penalty: JD disqualifiers, weighted by severity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hunted for every trap archetype —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reported what we didn't find, too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3431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&amp; handled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935224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80720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“Expert” proficiency claimed with 0 months’ use — hard-excluded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648456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5204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Years-of-experience vs. career-history duration mismatch &gt;36mo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4361688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23367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catch: ~68 candidates, matching the ~80 the brief describes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4400" y="5074920"/>
            <a:ext cx="82296" cy="822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94690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twins: near-identical profiles differing on redrob_signals — our scorer already ranks the more reachable one higher, verified on a real pair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80760" y="19659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234315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Investigated, ruled out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355080" y="2935224"/>
            <a:ext cx="82296" cy="8229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1" name="Text 17"/>
          <p:cNvSpPr/>
          <p:nvPr/>
        </p:nvSpPr>
        <p:spPr>
          <a:xfrm>
            <a:off x="6537960" y="28072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ending after first job, salary min&gt;max: found in ~19% of all 100K — too common to be traps, almost certainly generation noise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55080" y="3803904"/>
            <a:ext cx="82296" cy="8229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3" name="Text 19"/>
          <p:cNvSpPr/>
          <p:nvPr/>
        </p:nvSpPr>
        <p:spPr>
          <a:xfrm>
            <a:off x="6537960" y="367588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AI-keyword-stuffed skills on unrelated careers: checked directly, found zero matching candidates in the dangerous form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55080" y="4672584"/>
            <a:ext cx="82296" cy="8229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5" name="Text 21"/>
          <p:cNvSpPr/>
          <p:nvPr/>
        </p:nvSpPr>
        <p:spPr>
          <a:xfrm>
            <a:off x="6537960" y="45445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“expert” skill counts: verified these correlate with genuinely strong real candidates here, not stuffing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well-differentiated top 100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502920"/>
          </a:xfrm>
          <a:prstGeom prst="rect">
            <a:avLst/>
          </a:prstGeom>
          <a:solidFill>
            <a:srgbClr val="1C2D4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502920"/>
          </a:xfrm>
          <a:prstGeom prst="rect">
            <a:avLst/>
          </a:prstGeom>
          <a:solidFill>
            <a:srgbClr val="2DD4BF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100 — 0.705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0" y="1828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— 0.9215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unique scores across the top 100 — real differentiation, not flat 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OF 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1C2D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CAND_0018499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1C2D4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CAND_0081846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1C2D4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CAND_0086022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0.8825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1C2D4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29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CAND_0071974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1C2D4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486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CAND_0002025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5486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TIMING (100K CANDIDATES)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+ parse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32688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~6–20s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0" y="4078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326880" y="40782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~30–55s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83680" y="4498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326880" y="44988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+4–9s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83680" y="4919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write CSV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326880" y="4919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83680" y="53400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326880" y="534009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~40–63s (budget: 300s)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constraints, not around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13283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only, no GPU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94436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a lookup, a weighted sum, or simple arithmetic — nothing here needs a GPU.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79392" y="182880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202996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862" y="213283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7992" y="260604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calls during ranking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07992" y="294436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template classification happened once, offline, by us reading the data. Nothing calls an LLM API at ranking time.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18704" y="182880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47304" y="202996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174" y="213283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47304" y="260604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~45s vs. 300s budget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47304" y="294436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6–7× headroom on this hardware — comfortable margin for a slower judging machine.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56616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76732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87019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34340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reproduces everything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468172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rank.py --candidates ./candidates.jsonl --out ./submission.csv — no hidden steps, no manual notebook cells.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79392" y="356616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376732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862" y="387019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07992" y="434340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verified on a fresh clone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07992" y="468172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end-to-end in Google Colab from a clean git clone — not just our local machine.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8704" y="356616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47304" y="3767328"/>
            <a:ext cx="457200" cy="45720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0174" y="387019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47304" y="434340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real commits, each with a reason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47304" y="468172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two bugs we found and fixed by testing at scale, documented in the commit messages themselves.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do with more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C2D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9773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379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ground truth to validate against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2037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hand-validated on a stratified sample we labeled ourselves — useful, but not the same as the real NDCG/MAP signal.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1C2D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0289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895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Title-chasing rule rarely fires on this dataset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32552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honestly: only ~58 of 100K candidates even have explicit seniority words across 3+ jobs. Kept the rule for held-out data, didn't force it to find a pattern that isn't really there.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C2D4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0805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410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structured fields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43068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skill_assessment_scores, certifications, and education tier aren't in the scorer yet — the next clear extension.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1C2D4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51320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99262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fit isn't scored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535838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gives no comparison band to check expected_salary_range_inr_lpa against, so we left it out rather than guess.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40080"/>
            <a:ext cx="64008" cy="640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143000"/>
            <a:ext cx="64008" cy="64008"/>
          </a:xfrm>
          <a:prstGeom prst="ellipse">
            <a:avLst/>
          </a:prstGeom>
          <a:solidFill>
            <a:srgbClr val="2DD4B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645920"/>
            <a:ext cx="64008" cy="64008"/>
          </a:xfrm>
          <a:prstGeom prst="ellipse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148840"/>
            <a:ext cx="64008" cy="64008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640080"/>
            <a:ext cx="64008" cy="64008"/>
          </a:xfrm>
          <a:prstGeom prst="ellipse">
            <a:avLst/>
          </a:prstGeom>
          <a:solidFill>
            <a:srgbClr val="2DD4BF">
              <a:alpha val="9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1143000"/>
            <a:ext cx="64008" cy="64008"/>
          </a:xfrm>
          <a:prstGeom prst="ellipse">
            <a:avLst/>
          </a:prstGeom>
          <a:solidFill>
            <a:srgbClr val="2DD4BF">
              <a:alpha val="8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1645920"/>
            <a:ext cx="64008" cy="64008"/>
          </a:xfrm>
          <a:prstGeom prst="ellipse">
            <a:avLst/>
          </a:prstGeom>
          <a:solidFill>
            <a:srgbClr val="2DD4BF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2148840"/>
            <a:ext cx="64008" cy="64008"/>
          </a:xfrm>
          <a:prstGeom prst="ellipse">
            <a:avLst/>
          </a:prstGeom>
          <a:solidFill>
            <a:srgbClr val="2DD4BF">
              <a:alpha val="7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640080"/>
            <a:ext cx="64008" cy="64008"/>
          </a:xfrm>
          <a:prstGeom prst="ellipse">
            <a:avLst/>
          </a:prstGeom>
          <a:solidFill>
            <a:srgbClr val="2DD4BF">
              <a:alpha val="8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1143000"/>
            <a:ext cx="64008" cy="64008"/>
          </a:xfrm>
          <a:prstGeom prst="ellipse">
            <a:avLst/>
          </a:prstGeom>
          <a:solidFill>
            <a:srgbClr val="2DD4BF">
              <a:alpha val="7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645920"/>
            <a:ext cx="64008" cy="64008"/>
          </a:xfrm>
          <a:prstGeom prst="ellipse">
            <a:avLst/>
          </a:prstGeom>
          <a:solidFill>
            <a:srgbClr val="2DD4BF">
              <a:alpha val="7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2148840"/>
            <a:ext cx="64008" cy="64008"/>
          </a:xfrm>
          <a:prstGeom prst="ellipse">
            <a:avLst/>
          </a:prstGeom>
          <a:solidFill>
            <a:srgbClr val="2DD4BF">
              <a:alpha val="6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640080"/>
            <a:ext cx="64008" cy="64008"/>
          </a:xfrm>
          <a:prstGeom prst="ellipse">
            <a:avLst/>
          </a:prstGeom>
          <a:solidFill>
            <a:srgbClr val="2DD4BF">
              <a:alpha val="7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1143000"/>
            <a:ext cx="64008" cy="64008"/>
          </a:xfrm>
          <a:prstGeom prst="ellipse">
            <a:avLst/>
          </a:prstGeom>
          <a:solidFill>
            <a:srgbClr val="2DD4BF">
              <a:alpha val="7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1645920"/>
            <a:ext cx="64008" cy="64008"/>
          </a:xfrm>
          <a:prstGeom prst="ellipse">
            <a:avLst/>
          </a:prstGeom>
          <a:solidFill>
            <a:srgbClr val="2DD4BF">
              <a:alpha val="6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2148840"/>
            <a:ext cx="64008" cy="64008"/>
          </a:xfrm>
          <a:prstGeom prst="ellipse">
            <a:avLst/>
          </a:prstGeom>
          <a:solidFill>
            <a:srgbClr val="2DD4BF">
              <a:alpha val="6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640080"/>
            <a:ext cx="64008" cy="64008"/>
          </a:xfrm>
          <a:prstGeom prst="ellipse">
            <a:avLst/>
          </a:prstGeom>
          <a:solidFill>
            <a:srgbClr val="2DD4BF">
              <a:alpha val="6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0" y="1143000"/>
            <a:ext cx="64008" cy="64008"/>
          </a:xfrm>
          <a:prstGeom prst="ellipse">
            <a:avLst/>
          </a:prstGeom>
          <a:solidFill>
            <a:srgbClr val="2DD4BF">
              <a:alpha val="6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0" y="1645920"/>
            <a:ext cx="64008" cy="64008"/>
          </a:xfrm>
          <a:prstGeom prst="ellipse">
            <a:avLst/>
          </a:prstGeom>
          <a:solidFill>
            <a:srgbClr val="2DD4BF">
              <a:alpha val="5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148840"/>
            <a:ext cx="64008" cy="64008"/>
          </a:xfrm>
          <a:prstGeom prst="ellipse">
            <a:avLst/>
          </a:prstGeom>
          <a:solidFill>
            <a:srgbClr val="2DD4BF">
              <a:alpha val="5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640080"/>
            <a:ext cx="64008" cy="64008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143000"/>
            <a:ext cx="64008" cy="64008"/>
          </a:xfrm>
          <a:prstGeom prst="ellipse">
            <a:avLst/>
          </a:prstGeom>
          <a:solidFill>
            <a:srgbClr val="2DD4BF">
              <a:alpha val="5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1645920"/>
            <a:ext cx="64008" cy="64008"/>
          </a:xfrm>
          <a:prstGeom prst="ellipse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2148840"/>
            <a:ext cx="64008" cy="64008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19202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guess at relevance.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found the data's actual structure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scored against it exactly.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22960" y="4206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github.com/tinaaswanii/-redrob-hackathon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Sandbox: verified live in Google Colab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python rank.py --candidates ./candidates.jsonl --out ./submission.csv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Candidate Discovery &amp; Ranking</dc:title>
  <dc:subject>PptxGenJS Presentation</dc:subject>
  <dc:creator>Redrob Hackathon Submission</dc:creator>
  <cp:lastModifiedBy>Redrob Hackathon Submission</cp:lastModifiedBy>
  <cp:revision>1</cp:revision>
  <dcterms:created xsi:type="dcterms:W3CDTF">2026-06-24T08:02:07Z</dcterms:created>
  <dcterms:modified xsi:type="dcterms:W3CDTF">2026-06-24T08:02:07Z</dcterms:modified>
</cp:coreProperties>
</file>